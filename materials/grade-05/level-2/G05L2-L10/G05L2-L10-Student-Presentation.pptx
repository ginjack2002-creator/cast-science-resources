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Student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5B95"/>
                </a:solidFill>
              </a:defRPr>
            </a:pPr>
            <a:r>
              <a:t>Why Do Some Things Dissolve and Others Don't?</a:t>
            </a:r>
          </a:p>
          <a:p>
            <a:pPr algn="ctr">
              <a:defRPr sz="1600" i="1">
                <a:solidFill>
                  <a:srgbClr val="2D2A45"/>
                </a:solidFill>
              </a:defRPr>
            </a:pPr>
            <a:r>
              <a:t>How Water Temperature and Motion Affect Dissolving Speed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B5B95"/>
                </a:solidFill>
              </a:defRPr>
            </a:pPr>
            <a:r>
              <a:t>Grade 5 Level 2  |  NGSS: 5-PS1-1, 5-PS1-4  |  G05L2-L10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You Will Learn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B5B95"/>
                </a:solidFill>
              </a:defRPr>
            </a:pPr>
            <a:r>
              <a:t>Learning Goals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Model how water temperature and stirring speed affect dissolving rate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Explain how particle contact rate determines how quickly a substance dissolves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Predict how changing temperature or stirring speed affects solution concentration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Connect particle-level interactions to observable dissolving behavior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0116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BBFCF"/>
                </a:solidFill>
              </a:defRPr>
            </a:pPr>
            <a:r>
              <a:t>Key Vocabulary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Dissolving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process of a solid breaking apart and mixing evenly into a liquid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Solution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A mixture where one substance is completely dissolved in another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Concentration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How much dissolved substance is in a given amount of liquid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Particles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tiny pieces that make up all matter, too small to see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BBFCF"/>
                </a:solidFill>
              </a:defRPr>
            </a:pPr>
            <a:r>
              <a:t>The Big Question</a:t>
            </a:r>
          </a:p>
          <a:p>
            <a:pPr algn="ctr">
              <a:spcBef>
                <a:spcPts val="2000"/>
              </a:spcBef>
              <a:defRPr sz="3000" b="1">
                <a:solidFill>
                  <a:srgbClr val="1E1B4B"/>
                </a:solidFill>
              </a:defRPr>
            </a:pPr>
            <a:r>
              <a:t>Why do some things dissolve in water quickly while others take forever or don't dissolve at all?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1: LOCATE Your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BBFCF"/>
                </a:solidFill>
              </a:defRPr>
            </a:pPr>
            <a:r>
              <a:t>EXTERNAL (We Control)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Water Temperature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temperature of the water used as the solvent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Stirring Speed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fast the water is being stirred or agitated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B5B95"/>
                </a:solidFill>
              </a:defRPr>
            </a:pPr>
            <a:r>
              <a:t>INTERNAL (System Response)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Particle Contact Rate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often water particles bump into and interact with the solid particles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Dissolving Speed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quickly the solid breaks apart and mixes into the water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Solution Concentration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much of the solid has dissolved into the water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2: ESTABLISH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Water Temperature to Particle Contact Rate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Warmer water particles move faster, colliding with the solid surface more frequently.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Stirring Speed to Particle Contact Rate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Stirring brings fresh water particles into contact with the solid, increasing collision frequency.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Particle Contact Rate to Dissolving Speed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More frequent particle collisions break apart the solid faster.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Dissolving Speed to Solution Concentration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Faster dissolving increases the amount of dissolved substance in the water over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3: VISUALIZE &amp; EVALUATE</a:t>
            </a:r>
          </a:p>
          <a:p>
            <a:pPr algn="ctr">
              <a:defRPr sz="1600">
                <a:solidFill>
                  <a:srgbClr val="2D2A45"/>
                </a:solidFill>
              </a:defRPr>
            </a:pPr>
            <a:r>
              <a:t>Run the simulation and observe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1: Hot Water, Fast Stirring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High temperature, fast stirring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2: Cold Water, No Stirring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Low temperature, no stirring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3: Hot Water, No Stirring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High temperature, no stirring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Did We Discover?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Hot water dissolves substances faster because its particles move faster and collide with the solid more often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Stirring increases dissolving speed by bringing fresh water particles into contact with the solid surface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BOTH temperature and stirring increase particle contact rate, which is the key to dissolving speed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Solution concentration builds over time as more and more of the solid dissolves into the water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4: Design the Fastest Dissolving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BBFCF"/>
                </a:solidFill>
              </a:defRPr>
            </a:pPr>
            <a:r>
              <a:t>YOUR ENGINEERING MISSION</a:t>
            </a:r>
          </a:p>
          <a:p>
            <a:pPr>
              <a:spcBef>
                <a:spcPts val="1000"/>
              </a:spcBef>
              <a:defRPr sz="1400">
                <a:solidFill>
                  <a:srgbClr val="2D2A45"/>
                </a:solidFill>
              </a:defRPr>
            </a:pPr>
            <a:r>
              <a:t>Design and test the fastest method to completely dissolve a sugar cube in water.</a:t>
            </a:r>
          </a:p>
          <a:p>
            <a:pPr>
              <a:spcBef>
                <a:spcPts val="2000"/>
              </a:spcBef>
              <a:defRPr sz="1600" b="1">
                <a:solidFill>
                  <a:srgbClr val="6B5B95"/>
                </a:solidFill>
              </a:defRPr>
            </a:pPr>
            <a:r>
              <a:t>Career Connection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Food Scientists and Chemical Engineers design processes for mixing, dissolving, and creating solutions at industrial scale. They use the same principles you modeled today to make medicines, beverages,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4572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Exit Ticket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1. What is the relationship between Water Temperature and Solution Concentration?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2. What happened in your simulation when you changed Water Temperature?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3. What is ONE thing you would add to your model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8A9D4"/>
                </a:solidFill>
              </a:defRPr>
            </a:pPr>
            <a:r>
              <a:t>G05L2-L10  |  Grade 5 Level 2  |  NGSS: 5-PS1-1, 5-PS1-4  |  Discovery Collective ©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