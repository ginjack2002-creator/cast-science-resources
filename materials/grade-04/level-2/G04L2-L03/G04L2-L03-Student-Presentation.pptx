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Student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5B95"/>
                </a:solidFill>
              </a:defRPr>
            </a:pPr>
            <a:r>
              <a:t>Why Do Some Animals Survive Winter?</a:t>
            </a:r>
          </a:p>
          <a:p>
            <a:pPr algn="ctr">
              <a:defRPr sz="1600" i="1">
                <a:solidFill>
                  <a:srgbClr val="2D2A45"/>
                </a:solidFill>
              </a:defRPr>
            </a:pPr>
            <a:r>
              <a:t>The Hidden Science of Insulation, Metabolism, and Staying Alive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B5B95"/>
                </a:solidFill>
              </a:defRPr>
            </a:pPr>
            <a:r>
              <a:t>Grade 4 Level 2  |  NGSS: 4-LS1-1, 4-LS1-2  |  G04L2-L03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You Will Learn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B5B95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Explain how body insulation (fur, fat, feathers) helps animals survive cold temperatures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Model how temperature, food availability, body insulation, metabolic rate, and survival chance interact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Describe how metabolic rate increases in cold temperatures and why that can be dangerous without enough food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Use evidence from a model to explain why some animals thrive in winter while others migrate or hibernate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BFCF"/>
                </a:solidFill>
              </a:defRPr>
            </a:pPr>
            <a:r>
              <a:t>Key Vocabulary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Insulation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 layer that slows down heat loss — like fur, fat, or feathers that keep body heat from escaping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Metabolic Rate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How fast an animal's body burns energy to stay warm and alive — cold temperatures make it speed up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Adaptation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 body feature or behavior that helps an animal survive in its environment over many generations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Hibernation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 deep sleep-like state where an animal dramatically lowers its metabolic rate to save energy during winter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BBFCF"/>
                </a:solidFill>
              </a:defRPr>
            </a:pPr>
            <a:r>
              <a:t>The Big Question</a:t>
            </a:r>
          </a:p>
          <a:p>
            <a:pPr algn="ctr">
              <a:spcBef>
                <a:spcPts val="2000"/>
              </a:spcBef>
              <a:defRPr sz="3000" b="1">
                <a:solidFill>
                  <a:srgbClr val="1E1B4B"/>
                </a:solidFill>
              </a:defRPr>
            </a:pPr>
            <a:r>
              <a:t>How do arctic foxes, polar bears, and penguins survive in freezing temperatures that would be dangerous for humans in minutes?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1: LOCATE Your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BBFCF"/>
                </a:solidFill>
              </a:defRPr>
            </a:pPr>
            <a:r>
              <a:t>EXTERNAL (We Control)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Temperature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environmental temperature — how cold or warm it is outside, which the animal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Food Availability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much food is accessible in the environment — less food is available in winte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B5B95"/>
                </a:solidFill>
              </a:defRPr>
            </a:pPr>
            <a:r>
              <a:t>INTERNAL (System Response)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Body Insulation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well the animal's body prevents heat loss — thick fur, blubber, dense feathe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Metabolic Rate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fast the animal's body burns energy to maintain body temperature — colder co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Survival Chance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overall probability that the animal will survive the season — depends on the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2: ESTABLISH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Temperature to Metabolic Rate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When temperature DROPS (gets colder), metabolic rate INCREASES — the animal's body works harder to g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Food Availability to Survival Chance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food means more energy available to fuel the body's metabolic needs. When food is plentiful, th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Body Insulation to Metabolic Rate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Better insulation means less heat escapes from the body, so the body does not need to burn energy as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Metabolic Rate to Survival Chance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A HIGHER metabolic rate means the animal is burning through its energy reserves faster. If the anima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Food Availability to Body Insulation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food allows the animal to build up fat stores, which provide both energy reserves and physical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3: VISUALIZE &amp; EVALUATE</a:t>
            </a:r>
          </a:p>
          <a:p>
            <a:pPr algn="ctr">
              <a:defRPr sz="1600">
                <a:solidFill>
                  <a:srgbClr val="2D2A45"/>
                </a:solidFill>
              </a:defRPr>
            </a:pPr>
            <a:r>
              <a:t>Run the simulation and observe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1: Mild Winter, Plenty of Food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Temperature at 60%, Food Availability at 80%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2: Harsh Winter, Scarce Food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Temperature at 10%, Food Availability at 20%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3: Harsh Winter, Abundant Food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Temperature at 10%, Food Availability at 80%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Did We Discover?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When temperature drops, metabolic rate increases — the animal's body works harder to generate heat, burning more energy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Better body insulation reduces metabolic rate because less heat escapes, so the body does not have to work as hard to stay warm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High metabolic rate without enough food is a death sentence — the animal burns through its energy reserves and cannot survive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Animals survive winter through a combination of insulation (keeping heat in), food stores (energy supply), and in some cases hibernation (reducing energy demand)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4: Design the Ultimate Winter Survival Shelter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BFCF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>
                <a:solidFill>
                  <a:srgbClr val="2D2A45"/>
                </a:solidFill>
              </a:defRPr>
            </a:pPr>
            <a:r>
              <a:t>Design and test a shelter that keeps a cup of warm water from cooling down, using insulation principles from the animal survival model.</a:t>
            </a:r>
          </a:p>
          <a:p>
            <a:pPr>
              <a:spcBef>
                <a:spcPts val="2000"/>
              </a:spcBef>
              <a:defRPr sz="1600" b="1">
                <a:solidFill>
                  <a:srgbClr val="6B5B95"/>
                </a:solidFill>
              </a:defRPr>
            </a:pPr>
            <a:r>
              <a:t>Career Connection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Wildlife Biologists and Conservation Scientists study how animals survive in different environments and develop plans to protect endangered species. They earn $55,000–$95,000/year.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Exit Ticket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1. What is the relationship between Temperature and Survival Chance?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2. What happened in your simulation when you changed Temperature?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3. What is ONE thing you would add to your model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A9D4"/>
                </a:solidFill>
              </a:defRPr>
            </a:pPr>
            <a:r>
              <a:t>G04L2-L03  |  Grade 4 Level 2  |  NGSS: 4-LS1-1, 4-LS1-2  |  Discovery Collective ©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