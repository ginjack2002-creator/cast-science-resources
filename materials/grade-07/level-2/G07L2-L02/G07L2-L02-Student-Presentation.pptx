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2286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229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FFFFFF"/>
                </a:solidFill>
              </a:defRPr>
            </a:pPr>
            <a:r>
              <a:t>Student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B5B95"/>
                </a:solidFill>
              </a:defRPr>
            </a:pPr>
            <a:r>
              <a:t>DNA Decoded: Why You Are (Mostly) Unique</a:t>
            </a:r>
          </a:p>
          <a:p>
            <a:pPr algn="ctr">
              <a:defRPr sz="1600" i="1">
                <a:solidFill>
                  <a:srgbClr val="2D2A45"/>
                </a:solidFill>
              </a:defRPr>
            </a:pPr>
            <a:r>
              <a:t>The Blueprint of Life and What Makes You,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6B5B95"/>
                </a:solidFill>
              </a:defRPr>
            </a:pPr>
            <a:r>
              <a:t>Grade 7 Level 2  |  NGSS: MS-LS3-1, MS-LS3-2  |  G07L2-L02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72084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1/9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You Will Learn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11680"/>
            <a:ext cx="45720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6B5B95"/>
                </a:solidFill>
              </a:defRPr>
            </a:pPr>
            <a:r>
              <a:t>Learning Goals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Model how parent gene variation produces diverse offspring through sexual reproduction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Explain how environmental conditions influence which genes are expressed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Predict how trait variation affects survival advantage in different environments</a:t>
            </a:r>
          </a:p>
          <a:p>
            <a:pPr>
              <a:spcBef>
                <a:spcPts val="800"/>
              </a:spcBef>
              <a:defRPr sz="1500">
                <a:solidFill>
                  <a:srgbClr val="2D2A45"/>
                </a:solidFill>
              </a:defRPr>
            </a:pPr>
            <a:r>
              <a:t>  •  Describe the difference between genetic variation from sexual reproduction and identical copies from asexual reproduction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0" y="2011680"/>
            <a:ext cx="38404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BBFCF"/>
                </a:solidFill>
              </a:defRPr>
            </a:pPr>
            <a:r>
              <a:t>Key Vocabulary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Gene Expression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The process by which information from a gene is used to create a functional protein or trait in an organism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Genetic Variation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Differences in DNA sequences between individuals that lead to diversity in traits within a population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Mutation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A permanent change in the DNA sequence that may alter the protein a gene produces, potentially changing a trait</a:t>
            </a:r>
          </a:p>
          <a:p>
            <a:pPr>
              <a:spcBef>
                <a:spcPts val="600"/>
              </a:spcBef>
              <a:defRPr sz="1400" b="1">
                <a:solidFill>
                  <a:srgbClr val="1E1B4B"/>
                </a:solidFill>
              </a:defRPr>
            </a:pPr>
            <a:r>
              <a:t>  Allele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Different versions of the same gene that can produce different traits, like brown eyes vs. blue eyes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2/9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5BBFCF"/>
                </a:solidFill>
              </a:defRPr>
            </a:pPr>
            <a:r>
              <a:t>The Big Question</a:t>
            </a:r>
          </a:p>
          <a:p>
            <a:pPr algn="ctr">
              <a:spcBef>
                <a:spcPts val="2000"/>
              </a:spcBef>
              <a:defRPr sz="3000" b="1">
                <a:solidFill>
                  <a:srgbClr val="1E1B4B"/>
                </a:solidFill>
              </a:defRPr>
            </a:pPr>
            <a:r>
              <a:t>If you share 99.9% of your DNA with every other human, what makes you unique?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3/9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1: LOCATE Your Components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BBFCF"/>
                </a:solidFill>
              </a:defRPr>
            </a:pPr>
            <a:r>
              <a:t>EXTERNAL (We Control)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Parent Gene Variation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diversity of alleles and genetic material contributed by both parents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Environmental Conditions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External factors like nutrition, climate, and lifestyle that affect gene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2103120"/>
            <a:ext cx="4114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6B5B95"/>
                </a:solidFill>
              </a:defRPr>
            </a:pPr>
            <a:r>
              <a:t>INTERNAL (System Response)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Gene Expression Level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Which genes are actively being turned on or off in the organism's cells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Trait Variation in Offspring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The visible and functional differences between siblings and within populations</a:t>
            </a:r>
          </a:p>
          <a:p>
            <a:pPr>
              <a:spcBef>
                <a:spcPts val="800"/>
              </a:spcBef>
              <a:defRPr sz="1500" b="1">
                <a:solidFill>
                  <a:srgbClr val="1E1B4B"/>
                </a:solidFill>
              </a:defRPr>
            </a:pPr>
            <a:r>
              <a:t>  ▶  Survival Advantage</a:t>
            </a:r>
          </a:p>
          <a:p>
            <a:pPr>
              <a:defRPr sz="1100">
                <a:solidFill>
                  <a:srgbClr val="2D2A45"/>
                </a:solidFill>
              </a:defRPr>
            </a:pPr>
            <a:r>
              <a:t>      Whether an organism's particular combination of traits helps it survive in its 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4/9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2: ESTABLISH Relationships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Parent Gene Variation to Trait Variation in Offspring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parents have more diverse alleles, their offspring have a wider range of possible trait combina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Environmental Conditions to Gene Expression Level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Environmental factors can turn genes on or off. Favorable conditions may activate growth genes while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Gene Expression Level to Trait Variation in Offspring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When more genes are actively expressed, there are more visible and functional trait differences amon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Trait Variation in Offspring to Survival Advantage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Whether trait variation helps or hurts depends on the environment. In a changing environment, more v</a:t>
            </a:r>
          </a:p>
          <a:p>
            <a:pPr>
              <a:spcBef>
                <a:spcPts val="1000"/>
              </a:spcBef>
              <a:defRPr sz="1600" b="1">
                <a:solidFill>
                  <a:srgbClr val="2ECC71"/>
                </a:solidFill>
              </a:defRPr>
            </a:pPr>
            <a:r>
              <a:t>  +  Environmental Conditions to Survival Advantage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       Favorable environmental conditions improve survival for all organisms, regardless of their specific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5/9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3: VISUALIZE &amp; EVALUATE</a:t>
            </a:r>
          </a:p>
          <a:p>
            <a:pPr algn="ctr">
              <a:defRPr sz="1600">
                <a:solidFill>
                  <a:srgbClr val="2D2A45"/>
                </a:solidFill>
              </a:defRPr>
            </a:pPr>
            <a:r>
              <a:t>Run the simulation and observe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286000"/>
            <a:ext cx="7772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1: High Parent Variation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Diverse parent genes, stable environment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2: Environment Changes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Same genes, shifting environmental conditions</a:t>
            </a:r>
          </a:p>
          <a:p>
            <a:pPr>
              <a:spcBef>
                <a:spcPts val="1400"/>
              </a:spcBef>
              <a:defRPr sz="1800" b="1">
                <a:solidFill>
                  <a:srgbClr val="5BBFCF"/>
                </a:solidFill>
              </a:defRPr>
            </a:pPr>
            <a:r>
              <a:t>Scenario 3: Low Variation (Asexual-like)</a:t>
            </a:r>
          </a:p>
          <a:p>
            <a:pPr>
              <a:defRPr sz="1300">
                <a:solidFill>
                  <a:srgbClr val="2D2A45"/>
                </a:solidFill>
              </a:defRPr>
            </a:pPr>
            <a:r>
              <a:t>    Minimal parent variation, changing environment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6/9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What Did We Discover?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Sexual reproduction creates unique combinations of parent genes, which is why siblings look different despite sharing parents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Environmental conditions can turn genes on or off, meaning identical DNA can produce different traits in different environments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Populations with more genetic variation are better equipped to survive environmental changes</a:t>
            </a:r>
          </a:p>
          <a:p>
            <a:pPr>
              <a:spcBef>
                <a:spcPts val="1200"/>
              </a:spcBef>
              <a:defRPr sz="1600">
                <a:solidFill>
                  <a:srgbClr val="1E1B4B"/>
                </a:solidFill>
              </a:defRPr>
            </a:pPr>
            <a:r>
              <a:t>  ✓  Asexual reproduction creates identical copies, which is efficient but dangerous if the environment changes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7/9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6B5B9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1B4B"/>
                </a:solidFill>
              </a:defRPr>
            </a:pPr>
            <a:r>
              <a:t>Step 4: Design a Genetic Diversity Exhibit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103120"/>
            <a:ext cx="7772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5BBFCF"/>
                </a:solidFill>
              </a:defRPr>
            </a:pPr>
            <a:r>
              <a:t>YOUR ENGINEERING MISSION</a:t>
            </a:r>
          </a:p>
          <a:p>
            <a:pPr>
              <a:spcBef>
                <a:spcPts val="1000"/>
              </a:spcBef>
              <a:defRPr sz="1400">
                <a:solidFill>
                  <a:srgbClr val="2D2A45"/>
                </a:solidFill>
              </a:defRPr>
            </a:pPr>
            <a:r>
              <a:t>Create an interactive exhibit demonstrating why genetic diversity is essential for species survival, using evidence from your simulation model.</a:t>
            </a:r>
          </a:p>
          <a:p>
            <a:pPr>
              <a:spcBef>
                <a:spcPts val="2000"/>
              </a:spcBef>
              <a:defRPr sz="1600" b="1">
                <a:solidFill>
                  <a:srgbClr val="6B5B95"/>
                </a:solidFill>
              </a:defRPr>
            </a:pPr>
            <a:r>
              <a:t>Career Connection</a:t>
            </a:r>
          </a:p>
          <a:p>
            <a:pPr>
              <a:defRPr sz="1200">
                <a:solidFill>
                  <a:srgbClr val="2D2A45"/>
                </a:solidFill>
              </a:defRPr>
            </a:pPr>
            <a:r>
              <a:t>Genetic Counselors help individuals and families understand genetic conditions, inheritance patterns, and testing options. They work in hospitals, clinics, and research labs, earning $80,000-$120,000/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008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6B5B95"/>
                </a:solidFill>
              </a:defRPr>
            </a:pPr>
            <a:r>
              <a:t>ModelIt!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8/9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1B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0" y="457200"/>
            <a:ext cx="3657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5BBFCF"/>
                </a:solidFill>
              </a:defRPr>
            </a:pPr>
            <a:r>
              <a:t>ModelIt!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Exit Ticket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1. What is the relationship between Parent Gene Variation and Survival Advantage?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2. What happened in your simulation when you changed Parent Gene Variation?</a:t>
            </a:r>
          </a:p>
          <a:p>
            <a:br/>
            <a:pPr>
              <a:spcBef>
                <a:spcPts val="1400"/>
              </a:spcBef>
              <a:defRPr sz="1600">
                <a:solidFill>
                  <a:srgbClr val="FFFFFF"/>
                </a:solidFill>
              </a:defRPr>
            </a:pPr>
            <a:r>
              <a:t>3. What is ONE thing you would add to your model and why?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621792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B8A9D4"/>
                </a:solidFill>
              </a:defRPr>
            </a:pPr>
            <a:r>
              <a:t>G07L2-L02  |  Grade 7 Level 2  |  NGSS: MS-LS3-1, MS-LS3-2  |  Discovery Collective ©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6400800"/>
            <a:ext cx="1097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B8A9D4"/>
                </a:solidFill>
              </a:defRPr>
            </a:pPr>
            <a:r>
              <a:t>9/9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