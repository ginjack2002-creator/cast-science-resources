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Student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5B95"/>
                </a:solidFill>
              </a:defRPr>
            </a:pPr>
            <a:r>
              <a:t>Plate Tectonics: Predicting Where Earth Will Crack Next</a:t>
            </a:r>
          </a:p>
          <a:p>
            <a:pPr algn="ctr">
              <a:defRPr sz="1600" i="1">
                <a:solidFill>
                  <a:srgbClr val="2D2A45"/>
                </a:solidFill>
              </a:defRPr>
            </a:pPr>
            <a:r>
              <a:t>Using Models to Forecast Earthquakes and Volcanic Activity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B5B95"/>
                </a:solidFill>
              </a:defRPr>
            </a:pPr>
            <a:r>
              <a:t>Grade 6 Level 2  |  NGSS: MS-ESS2-2, MS-ESS2-3  |  G06L2-L03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You Will Learn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B5B95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Explain how mantle convection drives tectonic plate movement at measurable rates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Model how different plate boundary types produce different geological hazards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Analyze the relationship between tectonic stress buildup and earthquake frequency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Predict volcanic activity based on plate boundary type and mantle convection speed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BFCF"/>
                </a:solidFill>
              </a:defRPr>
            </a:pPr>
            <a:r>
              <a:t>Key Vocabulary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Mantle Convection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Circular currents of hot rock rising and cool rock sinking in Earth's mantle that drag tectonic plates along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Tectonic Stress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pressure that builds at plate boundaries as plates push against, pull apart from, or slide past each other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Convergent Boundary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 plate boundary where two plates collide, creating mountains, deep trenches, and subduction zones with volcanoes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Divergent Boundary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 plate boundary where two plates move apart, creating rifts, mid-ocean ridges, and new oceanic crust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BBFCF"/>
                </a:solidFill>
              </a:defRPr>
            </a:pPr>
            <a:r>
              <a:t>The Big Question</a:t>
            </a:r>
          </a:p>
          <a:p>
            <a:pPr algn="ctr">
              <a:spcBef>
                <a:spcPts val="2000"/>
              </a:spcBef>
              <a:defRPr sz="3000" b="1">
                <a:solidFill>
                  <a:srgbClr val="1E1B4B"/>
                </a:solidFill>
              </a:defRPr>
            </a:pPr>
            <a:r>
              <a:t>If we know where tectonic plates meet, why can't we predict exactly when the next big earthquake will hit?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1: LOCATE Your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BBFCF"/>
                </a:solidFill>
              </a:defRPr>
            </a:pPr>
            <a:r>
              <a:t>EXTERNAL (We Control)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Mantle Convection Speed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fast hot rock circulates in the mantle, driving plate movement above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Plate Boundary Type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Whether plates are colliding (convergent), separating (divergent), or sliding (t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B5B95"/>
                </a:solidFill>
              </a:defRPr>
            </a:pPr>
            <a:r>
              <a:t>INTERNAL (System Response)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Tectonic Stress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pressure accumulating at the boundary as plates interact, storing potential 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Earthquake Frequency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often seismic events occur at the boundary, related to stress release patter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Volcanic Activity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likelihood and intensity of volcanic eruptions, dependent on boundary type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2: ESTABLISH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Mantle Convection Speed to Tectonic Stress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Faster mantle convection pushes plates harder, accumulating more stress at boundaries where plates i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Tectonic Stress to Earthquake Frequency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Higher accumulated stress means more stored energy that must be released. This increases both the li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Plate Boundary Type to Volcanic Activity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Convergent boundaries produce volcanoes because subducting plates melt and create magma. Transform b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Earthquake Frequency to Tectonic Stress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Earthquakes release accumulated stress, temporarily reducing the pressure at the boundary. This crea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Mantle Convection Speed to Volcanic Activity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Faster convection brings more heat to the surface, increasing magma production and volcanic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3: VISUALIZE &amp; EVALUATE</a:t>
            </a:r>
          </a:p>
          <a:p>
            <a:pPr algn="ctr">
              <a:defRPr sz="1600">
                <a:solidFill>
                  <a:srgbClr val="2D2A45"/>
                </a:solidFill>
              </a:defRPr>
            </a:pPr>
            <a:r>
              <a:t>Run the simulation and observe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1: Fast Convergent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High convection, convergent boundary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2: Slow Transform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Low convection, transform boundary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3: Stress Cycle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Moderate convection, observe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Did We Discover?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Faster mantle convection increases tectonic stress at boundaries, leading to more frequent geological events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Convergent boundaries produce BOTH earthquakes and volcanoes because subducting plates melt and create magma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Transform boundaries produce earthquakes but almost NO volcanoes because plates slide horizontally without subduction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Earthquakes release accumulated stress, creating a negative feedback cycle: stress builds, quake releases, stress rebuilds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The stress-release cycle explains why earthquake patterns are somewhat cyclical but never perfectly predictable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4: Design an Earthquake Early Warning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BFCF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>
                <a:solidFill>
                  <a:srgbClr val="2D2A45"/>
                </a:solidFill>
              </a:defRPr>
            </a:pPr>
            <a:r>
              <a:t>Design a community early warning and response system for a city located near two different types of plate boundaries.</a:t>
            </a:r>
          </a:p>
          <a:p>
            <a:pPr>
              <a:spcBef>
                <a:spcPts val="2000"/>
              </a:spcBef>
              <a:defRPr sz="1600" b="1">
                <a:solidFill>
                  <a:srgbClr val="6B5B95"/>
                </a:solidFill>
              </a:defRPr>
            </a:pPr>
            <a:r>
              <a:t>Career Connection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Seismologists use network sensor data and computational models to study earthquake patterns and improve prediction methods. Volcanologists monitor active volcanoes to forecast eruptions and protect 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457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Exit Ticket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1. What is the relationship between Mantle Convection Speed and Volcanic Activity?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2. What happened in your simulation when you changed Mantle Convection Speed?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3. What is ONE thing you would add to your model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A9D4"/>
                </a:solidFill>
              </a:defRPr>
            </a:pPr>
            <a:r>
              <a:t>G06L2-L03  |  Grade 6 Level 2  |  NGSS: MS-ESS2-2, MS-ESS2-3  |  Discovery Collective ©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